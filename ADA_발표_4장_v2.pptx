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· 우리는 왜 만들었나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76656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—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4년 뒤 </a:t>
            </a:r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3배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폭증하고(IDC), 데이터로 결정하는 기업은 고객을 </a:t>
            </a:r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23배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얻는다(McKinsey).  분석은 이제 </a:t>
            </a:r>
            <a:pPr indent="0" marL="0">
              <a:buNone/>
            </a:pPr>
            <a:r>
              <a:rPr lang="en-US" sz="135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'선택'이 아니라 '생존'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— 데이터는 쌓이는데, 분석은 막혀 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215798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4곳 중 3곳(76%)이, 데이터를 두고도 '感'으로 결정합니다.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2628900" cy="2084832"/>
          </a:xfrm>
          <a:prstGeom prst="roundRect">
            <a:avLst>
              <a:gd name="adj" fmla="val 307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706624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활용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62656"/>
            <a:ext cx="24460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13232" y="3785616"/>
            <a:ext cx="22997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데이터가 분석에 못 쓰이고 방치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4370832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Forrester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4428" y="2578608"/>
            <a:ext cx="2628900" cy="2084832"/>
          </a:xfrm>
          <a:prstGeom prst="roundRect">
            <a:avLst>
              <a:gd name="adj" fmla="val 307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89020" y="2706624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인재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15868" y="2962656"/>
            <a:ext cx="24460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$112K+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589020" y="3785616"/>
            <a:ext cx="22997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1인 연봉·전 세계 25만 명 부족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89020" y="4370832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美 BLS·WEF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0216" y="2578608"/>
            <a:ext cx="2628900" cy="2084832"/>
          </a:xfrm>
          <a:prstGeom prst="roundRect">
            <a:avLst>
              <a:gd name="adj" fmla="val 307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64808" y="2706624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속도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91656" y="2962656"/>
            <a:ext cx="24460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1–4주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64808" y="3785616"/>
            <a:ext cx="22997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분석·리포트 하나 받는 평균 대기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64808" y="4370832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76004" y="2578608"/>
            <a:ext cx="2628900" cy="2084832"/>
          </a:xfrm>
          <a:prstGeom prst="roundRect">
            <a:avLst>
              <a:gd name="adj" fmla="val 307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40596" y="2706624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보고서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67444" y="2962656"/>
            <a:ext cx="24460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60–80%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340596" y="3785616"/>
            <a:ext cx="22997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힘들게 만든 보고서가 안 쓰인다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40596" y="4370832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 업계 분석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791456"/>
            <a:ext cx="5852160" cy="1207008"/>
          </a:xfrm>
          <a:prstGeom prst="roundRect">
            <a:avLst>
              <a:gd name="adj" fmla="val 4545"/>
            </a:avLst>
          </a:prstGeom>
          <a:solidFill>
            <a:srgbClr val="FCECE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9103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— 분석 1건의 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1846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3명 × 3주 ≈ 2,800만 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2960" y="56601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연봉 $112K 환산 · 사람 구하기도 어렵다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791456"/>
            <a:ext cx="731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7223760" y="4791456"/>
            <a:ext cx="4416552" cy="1207008"/>
          </a:xfrm>
          <a:prstGeom prst="roundRect">
            <a:avLst>
              <a:gd name="adj" fmla="val 4545"/>
            </a:avLst>
          </a:prstGeom>
          <a:solidFill>
            <a:srgbClr val="E8F3FF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0" y="4910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 — 같은 일을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5184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 · 30분 · ≈ 0원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98080" y="56601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절약, 곧 비용 절감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291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데이터 180ZB·3배 IDC · 데이터기반 23배 McKinsey · 73% Forrester · 76% Sisense 2025 · $112K 美 BLS·WEF · 1–4주 IBM · 보고서 60–80% BI 업계 분석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· 그래서 우리는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 — 누구나, 클릭만으로, 30분 만에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28개 전문 AI 에이전트</a:t>
            </a:r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한 팀처럼 협력해, 업로드부터 전처리·학습·평가·인사이트·보고서까지 </a:t>
            </a:r>
            <a:pPr indent="0" marL="0">
              <a:buNone/>
            </a:pPr>
            <a:r>
              <a:rPr lang="en-US" sz="145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과정을 자동</a:t>
            </a:r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 사람은 핵심만 결정합니다(휴먼인더루프).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F23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3명이, 3주 걸릴 프로젝트를  </a:t>
            </a:r>
            <a:pPr algn="ctr" indent="0" marL="0">
              <a:buNone/>
            </a:pPr>
            <a:r>
              <a:rPr lang="en-US" sz="30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만에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8072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시간 절약, 곧 비용 절감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"그럼 기존 AutoML·ChatGPT랑 뭐가 다른가?" — 한눈에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1672" cy="914400"/>
        </p:xfrm>
        <a:graphic>
          <a:graphicData uri="http://schemas.openxmlformats.org/drawingml/2006/table">
            <a:tbl>
              <a:tblPr/>
              <a:tblGrid>
                <a:gridCol w="4233672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AutoML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3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분석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84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문제정의→보고서 전 과정 자동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모델학습만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코드 한 토막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전 과정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비전공자가 직접 사용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전문가용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계속 프롬프트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클릭만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재현성·신뢰(반복·감사 가능)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환각·비재현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검증·인용강제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전문가급 보고서 5종 산출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PPT·PDF·대시보드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전공자의 특권에서, 모두의 도구로.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1672" cy="804672"/>
          </a:xfrm>
          <a:prstGeom prst="roundRect">
            <a:avLst>
              <a:gd name="adj" fmla="val 6818"/>
            </a:avLst>
          </a:prstGeom>
          <a:solidFill>
            <a:srgbClr val="1631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9377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—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4년 뒤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3배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폭증, 데이터로 결정하는 기업은 고객을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23배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얻는다. 분석은 </a:t>
            </a:r>
            <a:pPr indent="0" marL="0">
              <a:buNone/>
            </a:pPr>
            <a:r>
              <a:rPr lang="en-US" sz="135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'선택'이 아니라 '생존'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— 분석은 여전히 </a:t>
            </a:r>
            <a:pPr indent="0" marL="0">
              <a:buNone/>
            </a:pPr>
            <a:r>
              <a:rPr lang="en-US" sz="29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소수의 비싸고 느린 특권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20299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4곳 중 3곳(76%)이, 데이터를 두고도 '感'으로 결정합니다.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2628900" cy="1993392"/>
          </a:xfrm>
          <a:prstGeom prst="rect">
            <a:avLst/>
          </a:prstGeom>
          <a:solidFill>
            <a:srgbClr val="16294A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79776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3694176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방치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4151376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Forrester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4428" y="2487168"/>
            <a:ext cx="2628900" cy="1993392"/>
          </a:xfrm>
          <a:prstGeom prst="rect">
            <a:avLst/>
          </a:prstGeom>
          <a:solidFill>
            <a:srgbClr val="16294A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5868" y="2779776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$112K+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34156" y="3694176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연봉·25만 명 부족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34156" y="4151376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美 BLS·WEF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0216" y="2487168"/>
            <a:ext cx="2628900" cy="1993392"/>
          </a:xfrm>
          <a:prstGeom prst="rect">
            <a:avLst/>
          </a:prstGeom>
          <a:solidFill>
            <a:srgbClr val="16294A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2779776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1–4주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09944" y="3694176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9944" y="4151376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76004" y="2487168"/>
            <a:ext cx="2628900" cy="1993392"/>
          </a:xfrm>
          <a:prstGeom prst="rect">
            <a:avLst/>
          </a:prstGeom>
          <a:solidFill>
            <a:srgbClr val="16294A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7444" y="2779776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60–80%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285732" y="3694176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미사용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285732" y="4151376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 업계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26864"/>
            <a:ext cx="5852160" cy="1298448"/>
          </a:xfrm>
          <a:prstGeom prst="rect">
            <a:avLst/>
          </a:prstGeom>
          <a:solidFill>
            <a:srgbClr val="3A1F2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7731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— 분석 1건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08406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3명 × 3주 ≈ 2,800만 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46520" y="4626864"/>
            <a:ext cx="731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7223760" y="4626864"/>
            <a:ext cx="4416552" cy="1298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4773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 — 같은 일을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50840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 · 30분 · ≈ 0원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180ZB·3배 IDC · 23배 McKinsey · Forrester · Sisense 2025 · 美 BLS·WEF · IBM · BI 업계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· 그래서 우리는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 — 누구나, 클릭만으로, 30분 만에.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28개 전문 AI 에이전트가 전 과정을 자동으로. 사람은 핵심만 결정합니다.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2A2F3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2491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D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3명 · 3주</a:t>
            </a:r>
            <a:endParaRPr lang="en-US" sz="18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2,800만 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2103120"/>
            <a:ext cx="8503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519672" y="210312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19672" y="272491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1명 · 30분</a:t>
            </a:r>
            <a:endParaRPr lang="en-US" sz="18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0원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AutoML·ChatGPT랑 뭐가 다른가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1672" cy="914400"/>
        </p:xfrm>
        <a:graphic>
          <a:graphicData uri="http://schemas.openxmlformats.org/drawingml/2006/table">
            <a:tbl>
              <a:tblPr/>
              <a:tblGrid>
                <a:gridCol w="4690872"/>
                <a:gridCol w="2133295"/>
                <a:gridCol w="2133295"/>
                <a:gridCol w="213329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AutoML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4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4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문제정의→보고서 전 과정 자동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모델만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코드 한 토막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전 과정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비전공자가 직접 사용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전문가용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계속 프롬프트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클릭만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재현성·신뢰(반복·감사)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환각·비재현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검증·인용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전문가급 보고서 5종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5종 자동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AutoML은 '모델 만들기'만, ChatGPT는 '코드 한 토막'만. ADA는 </a:t>
            </a:r>
            <a:pPr algn="ctr" indent="0" marL="0">
              <a:buNone/>
            </a:pPr>
            <a:r>
              <a:rPr lang="en-US" sz="125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정의부터 보고서까지, 비전공자도, 재현 가능하게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발표 (4장)</dc:title>
  <dc:subject>PptxGenJS Presentation</dc:subject>
  <dc:creator>ADA Team</dc:creator>
  <cp:lastModifiedBy>ADA Team</cp:lastModifiedBy>
  <cp:revision>1</cp:revision>
  <dcterms:created xsi:type="dcterms:W3CDTF">2026-06-16T06:43:47Z</dcterms:created>
  <dcterms:modified xsi:type="dcterms:W3CDTF">2026-06-16T06:43:47Z</dcterms:modified>
</cp:coreProperties>
</file>