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33862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0019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874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997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4.</a:t>
            </a:r>
            <a:r>
              <a:rPr lang="ko-KR" alt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 배경</a:t>
            </a:r>
            <a:r>
              <a:rPr lang="en-US" altLang="ko-KR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 &amp; </a:t>
            </a:r>
            <a:r>
              <a:rPr lang="ko-KR" alt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문제 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 err="1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</a:t>
            </a:r>
            <a:r>
              <a:rPr lang="en-US" sz="3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300" b="1" dirty="0" err="1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폭증하는데</a:t>
            </a:r>
            <a:r>
              <a:rPr lang="en-US" sz="3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분석은 막혀 있다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</a:t>
            </a:r>
            <a:r>
              <a:rPr lang="en-US" altLang="ko-KR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: </a:t>
            </a:r>
            <a:r>
              <a:rPr lang="en-US" sz="15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</a:t>
            </a: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4곳 중 3곳(76%)이, 데이터를 </a:t>
            </a:r>
            <a:r>
              <a:rPr lang="en-US" sz="15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두고도</a:t>
            </a: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‘</a:t>
            </a:r>
            <a:r>
              <a:rPr lang="ko-KR" alt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</a:t>
            </a:r>
            <a:r>
              <a:rPr lang="en-US" sz="15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'으로 결정합니다.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2221992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1200" b="1" dirty="0" err="1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5146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713232" y="3429000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데이터가 분석에 못 쓰이고 방치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400507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Forrester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4428" y="2057400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9020" y="2221992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5868" y="25146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$112K+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3589020" y="3429000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1인 연봉·전 세계 25만 명 부족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9020" y="400507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BLS·WEF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0216" y="2057400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4808" y="2221992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속도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1656" y="25146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1–4주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6464808" y="3429000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분석·리포트 하나 받는 평균 대기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4808" y="400507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76004" y="2057400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40596" y="2221992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보고서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67444" y="251460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60–80%</a:t>
            </a:r>
            <a:endParaRPr lang="en-US" sz="3500" dirty="0"/>
          </a:p>
        </p:txBody>
      </p:sp>
      <p:sp>
        <p:nvSpPr>
          <p:cNvPr id="23" name="Text 21"/>
          <p:cNvSpPr/>
          <p:nvPr/>
        </p:nvSpPr>
        <p:spPr>
          <a:xfrm>
            <a:off x="9340596" y="3429000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힘들게 만든 보고서가 안 쓰인다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40596" y="4005072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업계 분석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617720"/>
            <a:ext cx="5852160" cy="1325880"/>
          </a:xfrm>
          <a:prstGeom prst="roundRect">
            <a:avLst>
              <a:gd name="adj" fmla="val 4138"/>
            </a:avLst>
          </a:prstGeom>
          <a:solidFill>
            <a:srgbClr val="FCECEC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78231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분석 1건의 값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507492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× 3주 ≈ 2,800만 원</a:t>
            </a:r>
            <a:endParaRPr lang="en-US" sz="2300" dirty="0"/>
          </a:p>
        </p:txBody>
      </p:sp>
      <p:sp>
        <p:nvSpPr>
          <p:cNvPr id="28" name="Text 26"/>
          <p:cNvSpPr/>
          <p:nvPr/>
        </p:nvSpPr>
        <p:spPr>
          <a:xfrm>
            <a:off x="822960" y="557784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연봉 $112K 환산 · 사람 구하기도 어렵다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46520" y="4617720"/>
            <a:ext cx="731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000" dirty="0"/>
          </a:p>
        </p:txBody>
      </p:sp>
      <p:sp>
        <p:nvSpPr>
          <p:cNvPr id="30" name="Shape 28"/>
          <p:cNvSpPr/>
          <p:nvPr/>
        </p:nvSpPr>
        <p:spPr>
          <a:xfrm>
            <a:off x="7223760" y="4617720"/>
            <a:ext cx="4416552" cy="1325880"/>
          </a:xfrm>
          <a:prstGeom prst="roundRect">
            <a:avLst>
              <a:gd name="adj" fmla="val 4138"/>
            </a:avLst>
          </a:prstGeom>
          <a:solidFill>
            <a:srgbClr val="E8F3FF"/>
          </a:solidFill>
          <a:ln/>
        </p:spPr>
      </p:sp>
      <p:sp>
        <p:nvSpPr>
          <p:cNvPr id="31" name="Text 29"/>
          <p:cNvSpPr/>
          <p:nvPr/>
        </p:nvSpPr>
        <p:spPr>
          <a:xfrm>
            <a:off x="7498080" y="47823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같은 일을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498080" y="507492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· 30분 · ≈ 0원</a:t>
            </a:r>
            <a:endParaRPr lang="en-US" sz="2300" dirty="0"/>
          </a:p>
        </p:txBody>
      </p:sp>
      <p:sp>
        <p:nvSpPr>
          <p:cNvPr id="33" name="Text 31"/>
          <p:cNvSpPr/>
          <p:nvPr/>
        </p:nvSpPr>
        <p:spPr>
          <a:xfrm>
            <a:off x="7498080" y="55778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절약, 곧 비용 절감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73% Forrester · 76% Sisense 2025(500개 기업) · $112K·25만 명 美 BLS·WEF · 1–4주 IBM · 보고서 60–80% BI 업계 분석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5. </a:t>
            </a:r>
            <a:r>
              <a:rPr lang="ko-KR" alt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솔루션 정의 </a:t>
            </a:r>
            <a:r>
              <a:rPr lang="en-US" altLang="ko-KR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&amp; </a:t>
            </a:r>
            <a:r>
              <a:rPr lang="ko-KR" altLang="en-US" sz="1300" b="1" kern="0" spc="200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차별점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누구나, 클릭만으로, 30분 만에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21208" y="135331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전문 AI 에이전트</a:t>
            </a:r>
            <a:r>
              <a:rPr lang="en-US" sz="16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 팀처럼 협력해, 업로드부터 전처리·학습·평가·인사이트·보고서까지 </a:t>
            </a: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과정을 자동</a:t>
            </a:r>
            <a:r>
              <a:rPr lang="en-US" sz="16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사람은 핵심만 결정합니다(휴먼인더루프).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23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3명이, 3주 걸릴 프로젝트를  </a:t>
            </a:r>
            <a:r>
              <a:rPr lang="en-US" sz="30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만에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시간 절약, 곧 비용 절감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"그럼 기존 AutoML·ChatGPT랑 뭐가 다른가?" — 한눈에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11091672" cy="2286000"/>
        </p:xfrm>
        <a:graphic>
          <a:graphicData uri="http://schemas.openxmlformats.org/drawingml/2006/table">
            <a:tbl>
              <a:tblPr/>
              <a:tblGrid>
                <a:gridCol w="4233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AutoML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분석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84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문제정의→보고서 전 과정 자동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모델학습만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코드 한 토막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 과정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비전공자가 직접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전문가용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계속 프롬프트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클릭만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재현성·신뢰(반복·감사 가능)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환각·비재현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검증·인용강제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전문가급 보고서 5종 산출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PPT·PDF·대시보드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전공자의 특권에서, 모두의 도구로.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4곳 중 3곳(76%)이, 데이터를 </a:t>
            </a:r>
            <a:r>
              <a:rPr lang="en-US" sz="1500" dirty="0" err="1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두고도</a:t>
            </a: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'</a:t>
            </a:r>
            <a:r>
              <a:rPr lang="ko-KR" alt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</a:t>
            </a: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'으로 결정합니다.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</a:t>
            </a: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폭증하는데</a:t>
            </a: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‘</a:t>
            </a:r>
            <a:r>
              <a:rPr lang="en-US" sz="31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분석’은</a:t>
            </a: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1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소수의 비싸고 느린 특권</a:t>
            </a:r>
            <a:r>
              <a:rPr lang="en-US" sz="3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이다.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548640" y="2240280"/>
            <a:ext cx="2628900" cy="2057400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60604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58368" y="3538728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방치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" y="3995928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Forrester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4428" y="2240280"/>
            <a:ext cx="2628900" cy="2057400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5868" y="260604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$112K+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4156" y="3538728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연봉·25만 명 부족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34156" y="3995928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BLS·WEF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300216" y="2240280"/>
            <a:ext cx="2628900" cy="2057400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91656" y="260604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1–4주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409944" y="3538728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대기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9944" y="3995928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176004" y="2240280"/>
            <a:ext cx="2628900" cy="2057400"/>
          </a:xfrm>
          <a:prstGeom prst="rect">
            <a:avLst/>
          </a:prstGeom>
          <a:solidFill>
            <a:srgbClr val="16294A"/>
          </a:solidFill>
          <a:ln w="12700">
            <a:solidFill>
              <a:srgbClr val="2C43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67444" y="2606040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60–80%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285732" y="3538728"/>
            <a:ext cx="24094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보고서 미사용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85732" y="3995928"/>
            <a:ext cx="24094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업계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852160" cy="1371600"/>
          </a:xfrm>
          <a:prstGeom prst="rect">
            <a:avLst/>
          </a:prstGeom>
          <a:solidFill>
            <a:srgbClr val="3A1F22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00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— 분석 1건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5148072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7A7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× 3주 ≈ 2,800만 원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6446520" y="4617720"/>
            <a:ext cx="731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3200" dirty="0"/>
          </a:p>
        </p:txBody>
      </p:sp>
      <p:sp>
        <p:nvSpPr>
          <p:cNvPr id="24" name="Shape 22"/>
          <p:cNvSpPr/>
          <p:nvPr/>
        </p:nvSpPr>
        <p:spPr>
          <a:xfrm>
            <a:off x="7223760" y="4617720"/>
            <a:ext cx="4416552" cy="13716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0" y="4800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같은 일을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98080" y="514807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· 30분 · ≈ 0원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548640" y="6382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0B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Forrester · Sisense 2025 · 美 BLS·WEF · IBM · BI 업계 분석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· 그래서 우리는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누구나, 클릭만으로, 30분 만에.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전문 AI 에이전트가 전 과정을 자동으로. 사람은 핵심만 결정합니다.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A2F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249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FD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· 3주</a:t>
            </a:r>
            <a:endParaRPr lang="en-US" sz="18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2,800만 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2103120"/>
            <a:ext cx="8503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519672" y="210312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27249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1명 · 30분</a:t>
            </a:r>
            <a:endParaRPr lang="en-US" sz="18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0원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AutoML·ChatGPT랑 뭐가 다른가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434840"/>
          <a:ext cx="11090757" cy="1737360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AutoML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문제정의→보고서 전 과정 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모델만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코드 한 토막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 과정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비전공자가 직접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전문가용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계속 프롬프트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클릭만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재현성·신뢰(반복·감사)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환각·비재현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검증·인용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전문가급 보고서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5종 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AutoML은 '모델 만들기'만, ChatGPT는 '코드 한 토막'만. ADA는 </a:t>
            </a:r>
            <a:r>
              <a:rPr lang="en-US" sz="125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정의부터 보고서까지, 비전공자도, 재현 가능하게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4.</a:t>
            </a:r>
            <a:r>
              <a:rPr lang="ko-KR" alt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 배경</a:t>
            </a:r>
            <a:r>
              <a:rPr lang="en-US" altLang="ko-KR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 &amp; </a:t>
            </a:r>
            <a:r>
              <a:rPr lang="ko-KR" alt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문제 정의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594586"/>
            <a:ext cx="943170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300" b="1" dirty="0" err="1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데이터는</a:t>
            </a:r>
            <a:r>
              <a:rPr lang="en-US" sz="3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3300" b="1" dirty="0" err="1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폭증하는데</a:t>
            </a:r>
            <a:r>
              <a:rPr lang="en-US" sz="3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48640" y="3362099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713232" y="3526691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</a:t>
            </a:r>
            <a:r>
              <a:rPr lang="en-US" sz="1200" b="1" dirty="0" err="1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활용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819299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73%</a:t>
            </a:r>
            <a:endParaRPr lang="en-US" sz="3500" dirty="0"/>
          </a:p>
        </p:txBody>
      </p:sp>
      <p:sp>
        <p:nvSpPr>
          <p:cNvPr id="8" name="Text 6"/>
          <p:cNvSpPr/>
          <p:nvPr/>
        </p:nvSpPr>
        <p:spPr>
          <a:xfrm>
            <a:off x="713232" y="4733699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 데이터가 분석에 못 쓰이고 방치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3232" y="5309771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Forrester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4428" y="3362099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89020" y="3526691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인재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15868" y="3819299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$112K+</a:t>
            </a:r>
            <a:endParaRPr lang="en-US" sz="3500" dirty="0"/>
          </a:p>
        </p:txBody>
      </p:sp>
      <p:sp>
        <p:nvSpPr>
          <p:cNvPr id="13" name="Text 11"/>
          <p:cNvSpPr/>
          <p:nvPr/>
        </p:nvSpPr>
        <p:spPr>
          <a:xfrm>
            <a:off x="3589020" y="4733699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1인 연봉·전 세계 25만 명 부족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89020" y="5309771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美 BLS·WEF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0216" y="3362099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64808" y="3526691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속도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91656" y="3819299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1–4주</a:t>
            </a:r>
            <a:endParaRPr lang="en-US" sz="3500" dirty="0"/>
          </a:p>
        </p:txBody>
      </p:sp>
      <p:sp>
        <p:nvSpPr>
          <p:cNvPr id="18" name="Text 16"/>
          <p:cNvSpPr/>
          <p:nvPr/>
        </p:nvSpPr>
        <p:spPr>
          <a:xfrm>
            <a:off x="6464808" y="4733699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분석·리포트 하나 받는 평균 대기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64808" y="5309771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IBM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176004" y="3362099"/>
            <a:ext cx="2628900" cy="2286000"/>
          </a:xfrm>
          <a:prstGeom prst="roundRect">
            <a:avLst>
              <a:gd name="adj" fmla="val 2800"/>
            </a:avLst>
          </a:prstGeom>
          <a:solidFill>
            <a:srgbClr val="FBFAFA"/>
          </a:solidFill>
          <a:ln w="12700">
            <a:solidFill>
              <a:srgbClr val="F0E6E6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340596" y="3526691"/>
            <a:ext cx="22997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보고서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67444" y="3819299"/>
            <a:ext cx="24460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500" b="1" dirty="0">
                <a:solidFill>
                  <a:srgbClr val="E025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60–80%</a:t>
            </a:r>
            <a:endParaRPr lang="en-US" sz="3500" dirty="0"/>
          </a:p>
        </p:txBody>
      </p:sp>
      <p:sp>
        <p:nvSpPr>
          <p:cNvPr id="23" name="Text 21"/>
          <p:cNvSpPr/>
          <p:nvPr/>
        </p:nvSpPr>
        <p:spPr>
          <a:xfrm>
            <a:off x="9340596" y="4733699"/>
            <a:ext cx="22997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힘들게 만든 보고서가 안 쓰인다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40596" y="5309771"/>
            <a:ext cx="22997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BI 업계 분석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 · 73% Forrester · 76% Sisense 2025(500개 기업) · $112K·25만 명 美 BLS·WEF · 1–4주 IBM · 보고서 60–80% BI 업계 분석</a:t>
            </a:r>
            <a:endParaRPr lang="en-US" sz="950" dirty="0"/>
          </a:p>
        </p:txBody>
      </p:sp>
      <p:sp>
        <p:nvSpPr>
          <p:cNvPr id="35" name="Text 1">
            <a:extLst>
              <a:ext uri="{FF2B5EF4-FFF2-40B4-BE49-F238E27FC236}">
                <a16:creationId xmlns:a16="http://schemas.microsoft.com/office/drawing/2014/main" id="{B17B76C2-DC4E-6ABE-823F-97B97069BAEF}"/>
              </a:ext>
            </a:extLst>
          </p:cNvPr>
          <p:cNvSpPr/>
          <p:nvPr/>
        </p:nvSpPr>
        <p:spPr>
          <a:xfrm>
            <a:off x="2531327" y="1137544"/>
            <a:ext cx="984652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3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분석은 </a:t>
            </a:r>
            <a:r>
              <a:rPr lang="en-US" sz="330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막혀</a:t>
            </a:r>
            <a:r>
              <a:rPr lang="en-US" sz="3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</a:t>
            </a:r>
            <a:r>
              <a:rPr lang="ko-KR" altLang="en-US" sz="33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</a:t>
            </a:r>
            <a:r>
              <a:rPr lang="en-US" altLang="ko-KR" sz="33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360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소수의</a:t>
            </a:r>
            <a:r>
              <a:rPr lang="en-US" altLang="ko-KR" sz="36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60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비싸고</a:t>
            </a:r>
            <a:r>
              <a:rPr lang="en-US" altLang="ko-KR" sz="36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60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느린</a:t>
            </a:r>
            <a:r>
              <a:rPr lang="en-US" altLang="ko-KR" sz="3600" b="1" dirty="0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3600" b="1" dirty="0" err="1">
                <a:solidFill>
                  <a:srgbClr val="FF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특권이다</a:t>
            </a:r>
            <a:r>
              <a:rPr lang="en-US" altLang="ko-KR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3600" dirty="0"/>
          </a:p>
        </p:txBody>
      </p:sp>
    </p:spTree>
    <p:extLst>
      <p:ext uri="{BB962C8B-B14F-4D97-AF65-F5344CB8AC3E}">
        <p14:creationId xmlns:p14="http://schemas.microsoft.com/office/powerpoint/2010/main" val="25712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WHAT · 그래서 우리는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5895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누구나, 클릭만으로, 30분 만에.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400" b="1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</a:t>
            </a:r>
            <a:r>
              <a:rPr lang="en-US" altLang="ko-KR" sz="1400" b="1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</a:t>
            </a:r>
            <a:r>
              <a:rPr lang="en-US" altLang="ko-KR" sz="1400" b="1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 </a:t>
            </a:r>
            <a:r>
              <a:rPr lang="en-US" altLang="ko-KR" sz="1400" b="1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 </a:t>
            </a:r>
            <a:r>
              <a:rPr lang="en-US" altLang="ko-KR" sz="32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팀처럼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협력해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업로드부터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전처리·학습·평가·인사이트·보고서까지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</a:t>
            </a:r>
            <a:r>
              <a:rPr lang="en-US" altLang="ko-KR" sz="1400" b="1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과정을</a:t>
            </a:r>
            <a:r>
              <a:rPr lang="en-US" altLang="ko-KR" sz="1400" b="1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b="1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사람은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1400" dirty="0" err="1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핵심만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결</a:t>
            </a:r>
            <a:r>
              <a:rPr lang="ko-KR" altLang="en-US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</a:t>
            </a:r>
            <a:r>
              <a:rPr lang="en-US" altLang="ko-KR" sz="1400" dirty="0">
                <a:highlight>
                  <a:srgbClr val="008080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altLang="ko-KR" sz="1400" dirty="0">
              <a:highlight>
                <a:srgbClr val="008080"/>
              </a:highlight>
            </a:endParaRPr>
          </a:p>
        </p:txBody>
      </p:sp>
      <p:sp>
        <p:nvSpPr>
          <p:cNvPr id="5" name="Shape 3"/>
          <p:cNvSpPr/>
          <p:nvPr/>
        </p:nvSpPr>
        <p:spPr>
          <a:xfrm>
            <a:off x="1097280" y="210312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A2F3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9AA3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BEFORE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7249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FD3D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3명 · 3주</a:t>
            </a:r>
            <a:endParaRPr lang="en-US" sz="18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2,800만 원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0" y="2103120"/>
            <a:ext cx="850392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6519672" y="2103120"/>
            <a:ext cx="4572000" cy="1691640"/>
          </a:xfrm>
          <a:prstGeom prst="roundRect">
            <a:avLst>
              <a:gd name="adj" fmla="val 5405"/>
            </a:avLst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519672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WITH ADA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19672" y="2724912"/>
            <a:ext cx="4572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누구나 1명 · 30분</a:t>
            </a:r>
            <a:endParaRPr lang="en-US" sz="18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≈ 1000원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AutoML·ChatGPT랑 뭐가 다른가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/>
        </p:nvGraphicFramePr>
        <p:xfrm>
          <a:off x="548640" y="4434840"/>
          <a:ext cx="11090757" cy="1737360"/>
        </p:xfrm>
        <a:graphic>
          <a:graphicData uri="http://schemas.openxmlformats.org/drawingml/2006/table">
            <a:tbl>
              <a:tblPr/>
              <a:tblGrid>
                <a:gridCol w="4690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32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AutoML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45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문제정의→보고서 전 과정 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모델만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코드 한 토막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 과정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비전공자가 직접 사용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전문가용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계속 프롬프트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클릭만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재현성·신뢰(반복·감사)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환각·비재현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검증·인용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CADCF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전문가급 보고서 5종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dirty="0">
                          <a:solidFill>
                            <a:srgbClr val="B9C4D6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CE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5종 자동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436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AutoML은 '모델 만들기'만, ChatGPT는 '코드 한 토막'만. ADA는 </a:t>
            </a:r>
            <a:r>
              <a:rPr lang="en-US" sz="125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정의부터 보고서까지, 비전공자도, 재현 가능하게</a:t>
            </a:r>
            <a:r>
              <a:rPr lang="en-US" sz="12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763926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5. </a:t>
            </a:r>
            <a:r>
              <a:rPr lang="ko-KR" altLang="en-US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솔루션 정의 </a:t>
            </a:r>
            <a:r>
              <a:rPr lang="en-US" altLang="ko-KR" sz="1300" b="1" kern="0" spc="200" dirty="0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&amp; </a:t>
            </a:r>
            <a:r>
              <a:rPr lang="ko-KR" altLang="en-US" sz="1300" b="1" kern="0" spc="200" dirty="0" err="1">
                <a:solidFill>
                  <a:srgbClr val="2563EB"/>
                </a:solidFill>
                <a:latin typeface="Malgun Gothic" pitchFamily="34" charset="0"/>
                <a:ea typeface="Malgun Gothic" pitchFamily="34" charset="-122"/>
              </a:rPr>
              <a:t>차별점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ADA — 누구나, 클릭만으로, 30분 만에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21208" y="135331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28개 전문 AI 에이전트</a:t>
            </a:r>
            <a:r>
              <a:rPr lang="en-US" sz="16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한 팀처럼 협력해, 업로드부터 전처리·학습·평가·인사이트·보고서까지 </a:t>
            </a:r>
            <a:r>
              <a:rPr lang="en-US" sz="1600" b="1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과정을 자동</a:t>
            </a:r>
            <a:r>
              <a:rPr lang="en-US" sz="1600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으로. 사람은 핵심만 결정합니다(휴먼인더루프).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1051560"/>
          </a:xfrm>
          <a:prstGeom prst="roundRect">
            <a:avLst>
              <a:gd name="adj" fmla="val 8696"/>
            </a:avLst>
          </a:prstGeom>
          <a:solidFill>
            <a:srgbClr val="0F234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86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3명이, 3주 걸릴 프로젝트를  </a:t>
            </a:r>
            <a:r>
              <a:rPr lang="en-US" sz="3000" b="1" dirty="0">
                <a:solidFill>
                  <a:srgbClr val="FFCE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30분</a:t>
            </a: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만에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280720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시간 절약, 곧 비용 절감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"그럼 기존 AutoML·ChatGPT랑 뭐가 다른가?" — 한눈에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48640" y="3840480"/>
          <a:ext cx="11091672" cy="2286000"/>
        </p:xfrm>
        <a:graphic>
          <a:graphicData uri="http://schemas.openxmlformats.org/drawingml/2006/table">
            <a:tbl>
              <a:tblPr/>
              <a:tblGrid>
                <a:gridCol w="42336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AutoML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A3B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ChatGPT 분석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849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ADA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문제정의→보고서 전 과정 자동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모델학습만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코드 한 토막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전 과정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비전공자가 직접 사용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전문가용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 계속 프롬프트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클릭만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재현성·신뢰(반복·감사 가능)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 환각·비재현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검증·인용강제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0F234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전문가급 보고서 5종 산출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D4ED8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✓ PPT·PDF·대시보드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0F234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분석을 전공자의 특권에서, 모두의 도구로.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69459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369</TotalTime>
  <Words>969</Words>
  <Application>Microsoft Office PowerPoint</Application>
  <PresentationFormat>와이드스크린</PresentationFormat>
  <Paragraphs>188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발표 (4장)</dc:title>
  <dc:subject>PptxGenJS Presentation</dc:subject>
  <dc:creator>ADA Team</dc:creator>
  <cp:lastModifiedBy>나연 김</cp:lastModifiedBy>
  <cp:revision>2</cp:revision>
  <dcterms:created xsi:type="dcterms:W3CDTF">2026-06-16T06:17:14Z</dcterms:created>
  <dcterms:modified xsi:type="dcterms:W3CDTF">2026-06-16T12:29:32Z</dcterms:modified>
</cp:coreProperties>
</file>